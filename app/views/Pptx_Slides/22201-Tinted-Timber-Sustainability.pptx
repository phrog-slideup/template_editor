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11" r:id="rId4"/>
  </p:sldMasterIdLst>
  <p:notesMasterIdLst>
    <p:notesMasterId r:id="rId6"/>
  </p:notesMasterIdLst>
  <p:handoutMasterIdLst>
    <p:handoutMasterId r:id="rId7"/>
  </p:handoutMasterIdLst>
  <p:sldIdLst>
    <p:sldId id="21348068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2A21DD-426A-69A5-CAC5-5CCE71F67708}" name="Ross LEONARD" initials="RL" userId="S::ross_leonard@mohawkind.com::7de98b56-4671-4a24-b87e-7b711e8b80aa" providerId="AD"/>
  <p188:author id="{C16A2DE2-A706-45DC-72B5-40825CB68434}" name="Ashfaq Shaikh" initials="AS" userId="S::ashfaq.shaikh@slideuplift.in::d25ee3e2-feb6-4c7d-8e72-7b4cc5cae37b" providerId="AD"/>
  <p188:author id="{A71A86ED-4A09-DF7B-3B01-8DD7A1CB36CA}" name="Brittanie BAKKEN" initials="BB" userId="S::brittanie_bakken@mohawkind.com::a5527670-08ff-4afd-8684-7b6d7635a0a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EA415-0582-1945-9D86-B1A47297629A}" v="6" dt="2025-10-09T20:01:29.384"/>
    <p1510:client id="{E31A55D2-5185-9713-E0ED-F0DB315C2DA9}" v="36" dt="2025-10-09T20:00:12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6110"/>
  </p:normalViewPr>
  <p:slideViewPr>
    <p:cSldViewPr snapToGrid="0" snapToObjects="1" showGuides="1">
      <p:cViewPr varScale="1">
        <p:scale>
          <a:sx n="74" d="100"/>
          <a:sy n="74" d="100"/>
        </p:scale>
        <p:origin x="34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68" d="100"/>
          <a:sy n="168" d="100"/>
        </p:scale>
        <p:origin x="53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657CE33-725F-E0E1-540F-0F74266E7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E7787-C09C-691C-A513-3F40895BFF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ACD69-6FB7-574B-B385-C849025A1389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2A39E-F18D-D512-2976-34E95A5B93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F9E91-DCF9-DA5B-360F-95B0CA3F09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5311F-258E-2947-8192-617DE4F95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275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C95C3-9380-0547-825A-8389AE982857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1DF28E-F7CE-EA4D-9FF7-84A686BAD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08981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788ED-A1C9-620A-75EA-66451A9A6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0F825-BF31-FD20-F6E0-7B8671A6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82549-B12E-F004-BB55-9BDAD4A12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>
              <a:buSzPts val="1000"/>
              <a:buFont typeface="Wingdings" panose="05000000000000000000" pitchFamily="2" charset="2"/>
              <a:buNone/>
            </a:pPr>
            <a:r>
              <a:rPr lang="en-US" sz="1800" kern="150" dirty="0">
                <a:latin typeface="Symbol"/>
                <a:ea typeface="Aptos" panose="020B0004020202020204" pitchFamily="34" charset="0"/>
                <a:cs typeface="Arial" panose="020B0604020202020204" pitchFamily="34" charset="0"/>
                <a:sym typeface="Symbol"/>
              </a:rPr>
              <a:t>e</a:t>
            </a:r>
            <a:endParaRPr lang="en-US" sz="1800" kern="150" dirty="0">
              <a:effectLst/>
              <a:latin typeface="Symbol"/>
              <a:ea typeface="Aptos" panose="020B0004020202020204" pitchFamily="34" charset="0"/>
              <a:cs typeface="Arial" panose="020B0604020202020204" pitchFamily="34" charset="0"/>
              <a:sym typeface="Symbo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09542-BC2C-3064-1BBD-E66287567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3D69C8-D74B-4DFF-9649-133A15263942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58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Option 2">
    <p:bg>
      <p:bgPr>
        <a:solidFill>
          <a:srgbClr val="2E2A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9180BA-2C90-8AB8-BEAA-F15ED42C8F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68619" y="1617307"/>
            <a:ext cx="7043606" cy="1749490"/>
          </a:xfrm>
        </p:spPr>
        <p:txBody>
          <a:bodyPr wrap="square" lIns="0" tIns="0" rIns="0" bIns="0" anchor="b">
            <a:noAutofit/>
          </a:bodyPr>
          <a:lstStyle>
            <a:lvl1pPr>
              <a:lnSpc>
                <a:spcPts val="3000"/>
              </a:lnSpc>
              <a:spcBef>
                <a:spcPts val="0"/>
              </a:spcBef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Chapter Title Goes Here </a:t>
            </a: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C73179D3-3CF9-4D93-A3E8-15AD4781D9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874610" y="3460104"/>
            <a:ext cx="7037615" cy="1028700"/>
          </a:xfrm>
        </p:spPr>
        <p:txBody>
          <a:bodyPr lIns="0">
            <a:noAutofit/>
          </a:bodyPr>
          <a:lstStyle>
            <a:lvl1pPr>
              <a:lnSpc>
                <a:spcPts val="22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  <a:lvl2pPr marL="457211" indent="0">
              <a:buFontTx/>
              <a:buNone/>
              <a:defRPr/>
            </a:lvl2pPr>
          </a:lstStyle>
          <a:p>
            <a:pPr lvl="0"/>
            <a:r>
              <a:rPr lang="en-US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95186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2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7741BCCD-4A19-EB17-1799-3CD588567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373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BE6374-8F36-8FE0-D860-387C8642F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269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</p:sldLayoutIdLst>
  <p:hf hdr="0" ftr="0" dt="0"/>
  <p:txStyles>
    <p:titleStyle>
      <a:lvl1pPr algn="l" defTabSz="914422" rtl="0" eaLnBrk="1" latinLnBrk="0" hangingPunct="1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1"/>
          </a:solidFill>
          <a:latin typeface="Arial" panose="020B0604020202020204" pitchFamily="34" charset="0"/>
          <a:ea typeface="Helvetica Neue Medium" panose="02000503000000020004" pitchFamily="2" charset="0"/>
          <a:cs typeface="Helvetica Neue Medium" panose="02000503000000020004" pitchFamily="2" charset="0"/>
        </a:defRPr>
      </a:lvl1pPr>
    </p:titleStyle>
    <p:bodyStyle>
      <a:lvl1pPr marL="0" indent="0" algn="l" defTabSz="914422" rtl="0" eaLnBrk="1" latinLnBrk="0" hangingPunct="1">
        <a:lnSpc>
          <a:spcPct val="90000"/>
        </a:lnSpc>
        <a:spcBef>
          <a:spcPts val="1000"/>
        </a:spcBef>
        <a:buFontTx/>
        <a:buNone/>
        <a:defRPr sz="1400" b="0" i="0" kern="1200" baseline="0">
          <a:solidFill>
            <a:schemeClr val="bg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1pPr>
      <a:lvl2pPr marL="685816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2pPr>
      <a:lvl3pPr marL="1143027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3pPr>
      <a:lvl4pPr marL="160023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4pPr>
      <a:lvl5pPr marL="2057449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+mn-lt"/>
          <a:ea typeface="Helvetica Neue" panose="02000503000000020004" pitchFamily="2" charset="0"/>
          <a:cs typeface="Helvetica Neue" panose="02000503000000020004" pitchFamily="2" charset="0"/>
        </a:defRPr>
      </a:lvl5pPr>
      <a:lvl6pPr marL="2514660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1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2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3" indent="-228605" algn="l" defTabSz="91442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1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2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3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4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5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76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87" algn="l" defTabSz="91442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4728">
          <p15:clr>
            <a:srgbClr val="F26B43"/>
          </p15:clr>
        </p15:guide>
        <p15:guide id="3" pos="2062">
          <p15:clr>
            <a:srgbClr val="F26B43"/>
          </p15:clr>
        </p15:guide>
        <p15:guide id="4" pos="5614">
          <p15:clr>
            <a:srgbClr val="F26B43"/>
          </p15:clr>
        </p15:guide>
        <p15:guide id="5" orient="horz" pos="288">
          <p15:clr>
            <a:srgbClr val="F26B43"/>
          </p15:clr>
        </p15:guide>
        <p15:guide id="6" pos="288">
          <p15:clr>
            <a:srgbClr val="F26B43"/>
          </p15:clr>
        </p15:guide>
        <p15:guide id="7" pos="144">
          <p15:clr>
            <a:srgbClr val="F26B43"/>
          </p15:clr>
        </p15:guide>
        <p15:guide id="8" orient="horz" pos="142">
          <p15:clr>
            <a:srgbClr val="F26B43"/>
          </p15:clr>
        </p15:guide>
        <p15:guide id="9" pos="1174">
          <p15:clr>
            <a:srgbClr val="F26B43"/>
          </p15:clr>
        </p15:guide>
        <p15:guide id="10" pos="7532">
          <p15:clr>
            <a:srgbClr val="F26B43"/>
          </p15:clr>
        </p15:guide>
        <p15:guide id="11" orient="horz" pos="4176">
          <p15:clr>
            <a:srgbClr val="F26B43"/>
          </p15:clr>
        </p15:guide>
        <p15:guide id="12" orient="horz" pos="4030">
          <p15:clr>
            <a:srgbClr val="F26B43"/>
          </p15:clr>
        </p15:guide>
        <p15:guide id="13" pos="7388">
          <p15:clr>
            <a:srgbClr val="F26B43"/>
          </p15:clr>
        </p15:guide>
        <p15:guide id="14" pos="6500">
          <p15:clr>
            <a:srgbClr val="F26B43"/>
          </p15:clr>
        </p15:guide>
        <p15:guide id="15" orient="horz" pos="864">
          <p15:clr>
            <a:srgbClr val="F26B43"/>
          </p15:clr>
        </p15:guide>
        <p15:guide id="16" pos="2952">
          <p15:clr>
            <a:srgbClr val="F26B43"/>
          </p15:clr>
        </p15:guide>
        <p15:guide id="17" orient="horz" pos="3454">
          <p15:clr>
            <a:srgbClr val="F26B43"/>
          </p15:clr>
        </p15:guide>
        <p15:guide id="18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9B66C-C8AD-81BA-115B-D5219E4CB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ullyImage1">
            <a:extLst>
              <a:ext uri="{FF2B5EF4-FFF2-40B4-BE49-F238E27FC236}">
                <a16:creationId xmlns:a16="http://schemas.microsoft.com/office/drawing/2014/main" id="{DE81B8D8-7D28-103E-F0D3-CE2F082E2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688" y="0"/>
            <a:ext cx="6096000" cy="6858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B3C405-FC55-0561-CEB6-229CFBCE9539}"/>
              </a:ext>
            </a:extLst>
          </p:cNvPr>
          <p:cNvSpPr/>
          <p:nvPr/>
        </p:nvSpPr>
        <p:spPr>
          <a:xfrm>
            <a:off x="455273" y="1897204"/>
            <a:ext cx="8650627" cy="3473046"/>
          </a:xfrm>
          <a:prstGeom prst="roundRect">
            <a:avLst>
              <a:gd name="adj" fmla="val 5896"/>
            </a:avLst>
          </a:prstGeom>
          <a:solidFill>
            <a:schemeClr val="bg1">
              <a:lumMod val="95000"/>
            </a:schemeClr>
          </a:solidFill>
          <a:ln w="9528" cap="flat">
            <a:noFill/>
            <a:prstDash val="solid"/>
            <a:miter/>
          </a:ln>
          <a:effectLst/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0250501-58AB-4081-4F45-2D40FCAFF6E4}"/>
              </a:ext>
            </a:extLst>
          </p:cNvPr>
          <p:cNvSpPr/>
          <p:nvPr/>
        </p:nvSpPr>
        <p:spPr>
          <a:xfrm>
            <a:off x="992402" y="2299666"/>
            <a:ext cx="3596455" cy="1282188"/>
          </a:xfrm>
          <a:prstGeom prst="roundRect">
            <a:avLst>
              <a:gd name="adj" fmla="val 1245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50" cap="none" spc="0" normalizeH="0" baseline="0" noProof="0">
              <a:ln>
                <a:noFill/>
              </a:ln>
              <a:solidFill>
                <a:srgbClr val="2D2924"/>
              </a:solidFill>
              <a:effectLst/>
              <a:uLnTx/>
              <a:uFillTx/>
              <a:latin typeface="HelveticaNeueLT Std Lt" panose="020B04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6F69056-52F0-6271-3624-3156BBD2D2D6}"/>
              </a:ext>
            </a:extLst>
          </p:cNvPr>
          <p:cNvSpPr/>
          <p:nvPr/>
        </p:nvSpPr>
        <p:spPr>
          <a:xfrm>
            <a:off x="992402" y="3685599"/>
            <a:ext cx="3596455" cy="1282188"/>
          </a:xfrm>
          <a:prstGeom prst="roundRect">
            <a:avLst>
              <a:gd name="adj" fmla="val 1245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50" cap="none" spc="0" normalizeH="0" baseline="0" noProof="0">
              <a:ln>
                <a:noFill/>
              </a:ln>
              <a:solidFill>
                <a:srgbClr val="2D2924"/>
              </a:solidFill>
              <a:effectLst/>
              <a:uLnTx/>
              <a:uFillTx/>
              <a:latin typeface="HelveticaNeueLT Std Lt" panose="020B04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2B6F85C-6A4B-63DA-509F-06FEBEA721AB}"/>
              </a:ext>
            </a:extLst>
          </p:cNvPr>
          <p:cNvSpPr/>
          <p:nvPr/>
        </p:nvSpPr>
        <p:spPr>
          <a:xfrm>
            <a:off x="5024093" y="2299666"/>
            <a:ext cx="3596455" cy="1282188"/>
          </a:xfrm>
          <a:prstGeom prst="roundRect">
            <a:avLst>
              <a:gd name="adj" fmla="val 1245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50" cap="none" spc="0" normalizeH="0" baseline="0" noProof="0">
              <a:ln>
                <a:noFill/>
              </a:ln>
              <a:solidFill>
                <a:srgbClr val="2D2924"/>
              </a:solidFill>
              <a:effectLst/>
              <a:uLnTx/>
              <a:uFillTx/>
              <a:latin typeface="HelveticaNeueLT Std Lt" panose="020B04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4C8D260-879F-4BC8-7AC9-C231EE144DA7}"/>
              </a:ext>
            </a:extLst>
          </p:cNvPr>
          <p:cNvSpPr/>
          <p:nvPr/>
        </p:nvSpPr>
        <p:spPr>
          <a:xfrm>
            <a:off x="5024093" y="3685599"/>
            <a:ext cx="3596455" cy="1282188"/>
          </a:xfrm>
          <a:prstGeom prst="roundRect">
            <a:avLst>
              <a:gd name="adj" fmla="val 12454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0" rIns="108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50" cap="none" spc="0" normalizeH="0" baseline="0" noProof="0">
              <a:ln>
                <a:noFill/>
              </a:ln>
              <a:solidFill>
                <a:srgbClr val="2D2924"/>
              </a:solidFill>
              <a:effectLst/>
              <a:uLnTx/>
              <a:uFillTx/>
              <a:latin typeface="HelveticaNeueLT Std Lt" panose="020B0403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SullyTextbox1">
            <a:extLst>
              <a:ext uri="{FF2B5EF4-FFF2-40B4-BE49-F238E27FC236}">
                <a16:creationId xmlns:a16="http://schemas.microsoft.com/office/drawing/2014/main" id="{A695C013-E4D9-53E3-9624-39ED57B1079E}"/>
              </a:ext>
            </a:extLst>
          </p:cNvPr>
          <p:cNvSpPr txBox="1"/>
          <p:nvPr/>
        </p:nvSpPr>
        <p:spPr>
          <a:xfrm>
            <a:off x="1427637" y="2570381"/>
            <a:ext cx="31111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r>
              <a:rPr kumimoji="0" lang="en-US" sz="1800" b="0" i="0" u="none" strike="noStrike" kern="15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Net-Positive Carbon</a:t>
            </a:r>
            <a:r>
              <a:rPr kumimoji="0" lang="en-US" sz="1800" b="0" i="0" u="none" strike="noStrike" kern="15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: </a:t>
            </a:r>
            <a:endParaRPr lang="en-US" sz="1800" b="0" i="0" u="none" strike="noStrike" kern="15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</p:txBody>
      </p:sp>
      <p:sp>
        <p:nvSpPr>
          <p:cNvPr id="54" name="SullyTextBox3">
            <a:extLst>
              <a:ext uri="{FF2B5EF4-FFF2-40B4-BE49-F238E27FC236}">
                <a16:creationId xmlns:a16="http://schemas.microsoft.com/office/drawing/2014/main" id="{5315408E-CD8C-2CF1-3CEC-DAEA3EC36F51}"/>
              </a:ext>
            </a:extLst>
          </p:cNvPr>
          <p:cNvSpPr txBox="1"/>
          <p:nvPr/>
        </p:nvSpPr>
        <p:spPr>
          <a:xfrm>
            <a:off x="1427638" y="3956315"/>
            <a:ext cx="22929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r>
              <a:rPr kumimoji="0" lang="en-US" sz="1800" b="0" i="0" u="none" strike="noStrike" kern="15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Low VOC Emissions:</a:t>
            </a:r>
            <a:endParaRPr lang="en-US" sz="1400" b="0" i="0" u="none" strike="noStrike" kern="150" cap="none" spc="0" normalizeH="0" baseline="0" noProof="0" dirty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5" name="SullyTextBox2">
            <a:extLst>
              <a:ext uri="{FF2B5EF4-FFF2-40B4-BE49-F238E27FC236}">
                <a16:creationId xmlns:a16="http://schemas.microsoft.com/office/drawing/2014/main" id="{EB72FFF8-008B-126C-7623-C248521DE771}"/>
              </a:ext>
            </a:extLst>
          </p:cNvPr>
          <p:cNvSpPr txBox="1"/>
          <p:nvPr/>
        </p:nvSpPr>
        <p:spPr>
          <a:xfrm>
            <a:off x="5486020" y="2672053"/>
            <a:ext cx="313452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r>
              <a:rPr kumimoji="0" lang="en-US" sz="1800" b="0" i="0" u="none" strike="noStrike" kern="15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No Ortho-Phthalates: </a:t>
            </a:r>
            <a:endParaRPr lang="en-US" sz="1800" b="0" i="0" u="none" strike="noStrike" kern="15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</p:txBody>
      </p:sp>
      <p:sp>
        <p:nvSpPr>
          <p:cNvPr id="56" name="SullyTextBox4">
            <a:extLst>
              <a:ext uri="{FF2B5EF4-FFF2-40B4-BE49-F238E27FC236}">
                <a16:creationId xmlns:a16="http://schemas.microsoft.com/office/drawing/2014/main" id="{F3BF5362-7066-D2E2-AEBA-81B2B27D7934}"/>
              </a:ext>
            </a:extLst>
          </p:cNvPr>
          <p:cNvSpPr txBox="1"/>
          <p:nvPr/>
        </p:nvSpPr>
        <p:spPr>
          <a:xfrm>
            <a:off x="5505299" y="3934278"/>
            <a:ext cx="3115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ts val="1000"/>
              <a:buFontTx/>
              <a:buNone/>
              <a:tabLst/>
              <a:defRPr/>
            </a:pPr>
            <a:r>
              <a:rPr kumimoji="0" lang="en-US" sz="1800" b="0" i="0" u="none" strike="noStrike" kern="15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  <a:ea typeface="Aptos" panose="020B0004020202020204" pitchFamily="34" charset="0"/>
                <a:cs typeface="Arial"/>
              </a:rPr>
              <a:t>UL Certified EPD: </a:t>
            </a:r>
            <a:endParaRPr lang="en-US" sz="1800" b="0" i="0" u="none" strike="noStrike" kern="15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Arial"/>
              <a:ea typeface="Aptos" panose="020B0004020202020204" pitchFamily="34" charset="0"/>
              <a:cs typeface="Arial"/>
            </a:endParaRPr>
          </a:p>
        </p:txBody>
      </p:sp>
      <p:sp>
        <p:nvSpPr>
          <p:cNvPr id="57" name="SullyOrderList1">
            <a:extLst>
              <a:ext uri="{FF2B5EF4-FFF2-40B4-BE49-F238E27FC236}">
                <a16:creationId xmlns:a16="http://schemas.microsoft.com/office/drawing/2014/main" id="{8C9CB0B9-DDBF-29FB-67B5-FB6DE8BFEBBA}"/>
              </a:ext>
            </a:extLst>
          </p:cNvPr>
          <p:cNvSpPr/>
          <p:nvPr/>
        </p:nvSpPr>
        <p:spPr>
          <a:xfrm>
            <a:off x="712024" y="2672054"/>
            <a:ext cx="537414" cy="537412"/>
          </a:xfrm>
          <a:prstGeom prst="ellipse">
            <a:avLst/>
          </a:prstGeom>
          <a:solidFill>
            <a:srgbClr val="C00000"/>
          </a:solidFill>
          <a:ln w="15875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544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01</a:t>
            </a:r>
          </a:p>
        </p:txBody>
      </p:sp>
      <p:sp>
        <p:nvSpPr>
          <p:cNvPr id="58" name="SullyOrderList2">
            <a:extLst>
              <a:ext uri="{FF2B5EF4-FFF2-40B4-BE49-F238E27FC236}">
                <a16:creationId xmlns:a16="http://schemas.microsoft.com/office/drawing/2014/main" id="{47C81DD6-074B-95AD-E249-6F8603CFB1F4}"/>
              </a:ext>
            </a:extLst>
          </p:cNvPr>
          <p:cNvSpPr/>
          <p:nvPr/>
        </p:nvSpPr>
        <p:spPr>
          <a:xfrm>
            <a:off x="712024" y="4057988"/>
            <a:ext cx="537414" cy="537412"/>
          </a:xfrm>
          <a:prstGeom prst="ellipse">
            <a:avLst/>
          </a:prstGeom>
          <a:solidFill>
            <a:srgbClr val="373434"/>
          </a:solidFill>
          <a:ln w="15875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544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02</a:t>
            </a:r>
          </a:p>
        </p:txBody>
      </p:sp>
      <p:sp>
        <p:nvSpPr>
          <p:cNvPr id="59" name="SullyOrderList3">
            <a:extLst>
              <a:ext uri="{FF2B5EF4-FFF2-40B4-BE49-F238E27FC236}">
                <a16:creationId xmlns:a16="http://schemas.microsoft.com/office/drawing/2014/main" id="{29108BA5-7F72-B926-EA6F-CE7409740B0F}"/>
              </a:ext>
            </a:extLst>
          </p:cNvPr>
          <p:cNvSpPr/>
          <p:nvPr/>
        </p:nvSpPr>
        <p:spPr>
          <a:xfrm>
            <a:off x="4743715" y="2672054"/>
            <a:ext cx="537414" cy="537412"/>
          </a:xfrm>
          <a:prstGeom prst="ellipse">
            <a:avLst/>
          </a:prstGeom>
          <a:solidFill>
            <a:srgbClr val="565A5C"/>
          </a:solidFill>
          <a:ln w="15875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544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03</a:t>
            </a:r>
          </a:p>
        </p:txBody>
      </p:sp>
      <p:sp>
        <p:nvSpPr>
          <p:cNvPr id="60" name="SullyOrderList4">
            <a:extLst>
              <a:ext uri="{FF2B5EF4-FFF2-40B4-BE49-F238E27FC236}">
                <a16:creationId xmlns:a16="http://schemas.microsoft.com/office/drawing/2014/main" id="{9A925F44-3CE1-6BA6-EC9E-70154331912D}"/>
              </a:ext>
            </a:extLst>
          </p:cNvPr>
          <p:cNvSpPr/>
          <p:nvPr/>
        </p:nvSpPr>
        <p:spPr>
          <a:xfrm>
            <a:off x="4743715" y="4057987"/>
            <a:ext cx="537414" cy="537412"/>
          </a:xfrm>
          <a:prstGeom prst="ellipse">
            <a:avLst/>
          </a:prstGeom>
          <a:solidFill>
            <a:srgbClr val="898D8D"/>
          </a:solidFill>
          <a:ln w="15875"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5440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04</a:t>
            </a:r>
          </a:p>
        </p:txBody>
      </p:sp>
      <p:pic>
        <p:nvPicPr>
          <p:cNvPr id="17" name="SullyLogo" descr="A red letter on a black background&#10;&#10;Description automatically generated">
            <a:extLst>
              <a:ext uri="{FF2B5EF4-FFF2-40B4-BE49-F238E27FC236}">
                <a16:creationId xmlns:a16="http://schemas.microsoft.com/office/drawing/2014/main" id="{879F5B4D-85D8-9827-8D58-414F333E0FE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0403789" y="6485854"/>
            <a:ext cx="1518135" cy="202474"/>
          </a:xfrm>
          <a:prstGeom prst="rect">
            <a:avLst/>
          </a:prstGeom>
        </p:spPr>
      </p:pic>
      <p:sp>
        <p:nvSpPr>
          <p:cNvPr id="18" name="SullyTitle">
            <a:extLst>
              <a:ext uri="{FF2B5EF4-FFF2-40B4-BE49-F238E27FC236}">
                <a16:creationId xmlns:a16="http://schemas.microsoft.com/office/drawing/2014/main" id="{4A874513-CC05-A52B-82ED-937BD7514BCA}"/>
              </a:ext>
            </a:extLst>
          </p:cNvPr>
          <p:cNvSpPr txBox="1">
            <a:spLocks noChangeArrowheads="1"/>
          </p:cNvSpPr>
          <p:nvPr/>
        </p:nvSpPr>
        <p:spPr>
          <a:xfrm>
            <a:off x="455273" y="313000"/>
            <a:ext cx="11624330" cy="592645"/>
          </a:xfrm>
          <a:prstGeom prst="rect">
            <a:avLst/>
          </a:prstGeom>
        </p:spPr>
        <p:txBody>
          <a:bodyPr lIns="0" tIns="45720" rIns="91440" bIns="45720" anchor="ctr"/>
          <a:lstStyle>
            <a:defPPr>
              <a:defRPr lang="en-US"/>
            </a:defPPr>
            <a:lvl1pPr marR="0" lvl="0" indent="0" defTabSz="914422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800" b="1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HelveticaNeueLT Std Lt" panose="020B0403020202020204" pitchFamily="34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lvl1pPr>
          </a:lstStyle>
          <a:p>
            <a:pPr marL="0" marR="0" lvl="0" indent="0" algn="l" defTabSz="91442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Arial"/>
              </a:rPr>
              <a:t>Going Beyond </a:t>
            </a:r>
            <a:r>
              <a:rPr lang="en-US" altLang="en-US" dirty="0">
                <a:solidFill>
                  <a:srgbClr val="565A5C">
                    <a:lumMod val="75000"/>
                  </a:srgbClr>
                </a:solidFill>
                <a:latin typeface="Arial"/>
              </a:rPr>
              <a:t>Carbon Neutral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8796C9-B204-AB28-3C67-F7A486537151}"/>
              </a:ext>
            </a:extLst>
          </p:cNvPr>
          <p:cNvSpPr txBox="1"/>
          <p:nvPr/>
        </p:nvSpPr>
        <p:spPr>
          <a:xfrm>
            <a:off x="11824405" y="78812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0AE2E5-1FBC-884A-9AAA-E638B94FCEBF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SullyBox_wob1.1">
            <a:extLst>
              <a:ext uri="{FF2B5EF4-FFF2-40B4-BE49-F238E27FC236}">
                <a16:creationId xmlns:a16="http://schemas.microsoft.com/office/drawing/2014/main" id="{12961F2F-DF51-6EE4-3251-1F1BB8F46BA6}"/>
              </a:ext>
            </a:extLst>
          </p:cNvPr>
          <p:cNvSpPr txBox="1"/>
          <p:nvPr/>
        </p:nvSpPr>
        <p:spPr>
          <a:xfrm>
            <a:off x="1306216" y="2778965"/>
            <a:ext cx="3030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150" dirty="0">
                <a:solidFill>
                  <a:srgbClr val="000000">
                    <a:lumMod val="85000"/>
                    <a:lumOff val="15000"/>
                  </a:srgbClr>
                </a:solidFill>
                <a:ea typeface="Aptos" panose="020B0004020202020204" pitchFamily="34" charset="0"/>
                <a:cs typeface="Arial"/>
              </a:rPr>
              <a:t>100% carbon neutral with an additional 5% offset.</a:t>
            </a:r>
          </a:p>
        </p:txBody>
      </p:sp>
      <p:sp>
        <p:nvSpPr>
          <p:cNvPr id="3" name="SullyBox_wob2.1">
            <a:extLst>
              <a:ext uri="{FF2B5EF4-FFF2-40B4-BE49-F238E27FC236}">
                <a16:creationId xmlns:a16="http://schemas.microsoft.com/office/drawing/2014/main" id="{88DB9689-793B-DAB3-A249-A83DFC52783C}"/>
              </a:ext>
            </a:extLst>
          </p:cNvPr>
          <p:cNvSpPr txBox="1"/>
          <p:nvPr/>
        </p:nvSpPr>
        <p:spPr>
          <a:xfrm>
            <a:off x="5403323" y="2919503"/>
            <a:ext cx="3217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150" dirty="0">
                <a:solidFill>
                  <a:srgbClr val="000000">
                    <a:lumMod val="85000"/>
                    <a:lumOff val="15000"/>
                  </a:srgbClr>
                </a:solidFill>
                <a:cs typeface="Arial"/>
              </a:rPr>
              <a:t>Safer material choice</a:t>
            </a:r>
          </a:p>
        </p:txBody>
      </p:sp>
      <p:sp>
        <p:nvSpPr>
          <p:cNvPr id="5" name="SullyBox_wob3.1">
            <a:extLst>
              <a:ext uri="{FF2B5EF4-FFF2-40B4-BE49-F238E27FC236}">
                <a16:creationId xmlns:a16="http://schemas.microsoft.com/office/drawing/2014/main" id="{1159121F-F22E-F3C0-D1E6-4D5BD6C60B40}"/>
              </a:ext>
            </a:extLst>
          </p:cNvPr>
          <p:cNvSpPr txBox="1"/>
          <p:nvPr/>
        </p:nvSpPr>
        <p:spPr>
          <a:xfrm>
            <a:off x="1341867" y="4222923"/>
            <a:ext cx="3282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150" dirty="0" err="1">
                <a:solidFill>
                  <a:srgbClr val="000000">
                    <a:lumMod val="85000"/>
                    <a:lumOff val="15000"/>
                  </a:srgbClr>
                </a:solidFill>
                <a:cs typeface="Arial"/>
              </a:rPr>
              <a:t>Floorscore</a:t>
            </a:r>
            <a:r>
              <a:rPr lang="en-US" sz="1400" kern="150" dirty="0">
                <a:solidFill>
                  <a:srgbClr val="000000">
                    <a:lumMod val="85000"/>
                    <a:lumOff val="15000"/>
                  </a:srgbClr>
                </a:solidFill>
                <a:cs typeface="Arial"/>
              </a:rPr>
              <a:t>® certified for healthier indoor air quality</a:t>
            </a:r>
            <a:endParaRPr lang="en-IN" sz="1400" dirty="0"/>
          </a:p>
        </p:txBody>
      </p:sp>
      <p:sp>
        <p:nvSpPr>
          <p:cNvPr id="6" name="SullyBox_wob4.1">
            <a:extLst>
              <a:ext uri="{FF2B5EF4-FFF2-40B4-BE49-F238E27FC236}">
                <a16:creationId xmlns:a16="http://schemas.microsoft.com/office/drawing/2014/main" id="{2DD0AE43-183D-72C0-DA9E-AEAF0ADDA60D}"/>
              </a:ext>
            </a:extLst>
          </p:cNvPr>
          <p:cNvSpPr txBox="1"/>
          <p:nvPr/>
        </p:nvSpPr>
        <p:spPr>
          <a:xfrm>
            <a:off x="5383574" y="4218839"/>
            <a:ext cx="3236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150" dirty="0">
                <a:solidFill>
                  <a:srgbClr val="000000">
                    <a:lumMod val="85000"/>
                    <a:lumOff val="15000"/>
                  </a:srgbClr>
                </a:solidFill>
                <a:cs typeface="Arial"/>
              </a:rPr>
              <a:t>Third-party verified Environmental Product Declaration</a:t>
            </a:r>
          </a:p>
        </p:txBody>
      </p:sp>
    </p:spTree>
    <p:extLst>
      <p:ext uri="{BB962C8B-B14F-4D97-AF65-F5344CB8AC3E}">
        <p14:creationId xmlns:p14="http://schemas.microsoft.com/office/powerpoint/2010/main" val="79904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_MohawkGroup_Template">
  <a:themeElements>
    <a:clrScheme name="Mohawk theme">
      <a:dk1>
        <a:srgbClr val="2E2A25"/>
      </a:dk1>
      <a:lt1>
        <a:srgbClr val="FFFFFF"/>
      </a:lt1>
      <a:dk2>
        <a:srgbClr val="565A5C"/>
      </a:dk2>
      <a:lt2>
        <a:srgbClr val="E7E6E6"/>
      </a:lt2>
      <a:accent1>
        <a:srgbClr val="C8102E"/>
      </a:accent1>
      <a:accent2>
        <a:srgbClr val="565A5C"/>
      </a:accent2>
      <a:accent3>
        <a:srgbClr val="898D8D"/>
      </a:accent3>
      <a:accent4>
        <a:srgbClr val="EAF2FC"/>
      </a:accent4>
      <a:accent5>
        <a:srgbClr val="1859A9"/>
      </a:accent5>
      <a:accent6>
        <a:srgbClr val="2E2A25"/>
      </a:accent6>
      <a:hlink>
        <a:srgbClr val="0563C1"/>
      </a:hlink>
      <a:folHlink>
        <a:srgbClr val="EAF2F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F719B16A-6744-6742-A9AC-8896ED48A76F}" vid="{498A1488-D1C1-1B46-AF07-1A015B3AD26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219867C5B5B747861405FF1DB1EE2A" ma:contentTypeVersion="19" ma:contentTypeDescription="Create a new document." ma:contentTypeScope="" ma:versionID="7ee0bbbfe70f86e1c86ea2c1ef79456e">
  <xsd:schema xmlns:xsd="http://www.w3.org/2001/XMLSchema" xmlns:xs="http://www.w3.org/2001/XMLSchema" xmlns:p="http://schemas.microsoft.com/office/2006/metadata/properties" xmlns:ns2="9961d7ab-ecd9-4abb-95f0-0ce809767bac" xmlns:ns3="fcff58cd-c868-438b-a6a5-1841b529c12b" xmlns:ns4="289e933f-cfad-4504-9331-4a19bcfb573c" targetNamespace="http://schemas.microsoft.com/office/2006/metadata/properties" ma:root="true" ma:fieldsID="28bf07e9be3f541296fa9a8d19453d92" ns2:_="" ns3:_="" ns4:_="">
    <xsd:import namespace="9961d7ab-ecd9-4abb-95f0-0ce809767bac"/>
    <xsd:import namespace="fcff58cd-c868-438b-a6a5-1841b529c12b"/>
    <xsd:import namespace="289e933f-cfad-4504-9331-4a19bcfb573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4:TaxCatchAll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61d7ab-ecd9-4abb-95f0-0ce809767ba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ff58cd-c868-438b-a6a5-1841b529c1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6f215304-9a59-4390-b43d-101829da70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e933f-cfad-4504-9331-4a19bcfb573c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f52d90e6-f047-4fde-bedf-3304ad6406f3}" ma:internalName="TaxCatchAll" ma:showField="CatchAllData" ma:web="9961d7ab-ecd9-4abb-95f0-0ce809767b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ff58cd-c868-438b-a6a5-1841b529c12b">
      <Terms xmlns="http://schemas.microsoft.com/office/infopath/2007/PartnerControls"/>
    </lcf76f155ced4ddcb4097134ff3c332f>
    <TaxCatchAll xmlns="289e933f-cfad-4504-9331-4a19bcfb573c" xsi:nil="true"/>
  </documentManagement>
</p:properties>
</file>

<file path=customXml/itemProps1.xml><?xml version="1.0" encoding="utf-8"?>
<ds:datastoreItem xmlns:ds="http://schemas.openxmlformats.org/officeDocument/2006/customXml" ds:itemID="{83D2D9AD-D698-442E-930E-408E39495DC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61d7ab-ecd9-4abb-95f0-0ce809767bac"/>
    <ds:schemaRef ds:uri="fcff58cd-c868-438b-a6a5-1841b529c12b"/>
    <ds:schemaRef ds:uri="289e933f-cfad-4504-9331-4a19bcfb57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B6E2D4-2EEA-4F62-B46A-8BC2ADCD77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7B81AD-2354-4746-B593-252CCA87E171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  <ds:schemaRef ds:uri="c9ce3846-db82-4a9e-bd59-89fa642a9c6e"/>
    <ds:schemaRef ds:uri="http://schemas.microsoft.com/office/2006/metadata/properties"/>
    <ds:schemaRef ds:uri="fcff58cd-c868-438b-a6a5-1841b529c12b"/>
    <ds:schemaRef ds:uri="289e933f-cfad-4504-9331-4a19bcfb573c"/>
  </ds:schemaRefs>
</ds:datastoreItem>
</file>

<file path=docMetadata/LabelInfo.xml><?xml version="1.0" encoding="utf-8"?>
<clbl:labelList xmlns:clbl="http://schemas.microsoft.com/office/2020/mipLabelMetadata">
  <clbl:label id="{04eca944-6c51-44b3-968f-d0b53acd3878}" enabled="0" method="" siteId="{04eca944-6c51-44b3-968f-d0b53acd387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MohawkGroup_Template</Template>
  <TotalTime>1395</TotalTime>
  <Words>52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HelveticaNeueLT Std Lt</vt:lpstr>
      <vt:lpstr>Symbol</vt:lpstr>
      <vt:lpstr>Wingdings</vt:lpstr>
      <vt:lpstr>5_MohawkGroup_Template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Cristina QUATTLEBAUM</dc:creator>
  <cp:lastModifiedBy>Pruthvi Survase</cp:lastModifiedBy>
  <cp:revision>176</cp:revision>
  <dcterms:created xsi:type="dcterms:W3CDTF">2022-11-08T21:22:01Z</dcterms:created>
  <dcterms:modified xsi:type="dcterms:W3CDTF">2026-01-29T13:50:37Z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0x01010039219867C5B5B747861405FF1DB1EE2A</vt:lpwstr>
  </property>
</Properties>
</file>